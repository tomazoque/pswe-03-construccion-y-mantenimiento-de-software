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Buenas, hoy vamos a presentar el ecosistema de calidad de código. La idea principal es explicar cómo estas cinco herramientas ayudan a construir software más confiable, mantenible y verificable antes de integrarlo o entregarlo.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ecosistema aparece cuando el equipo necesita controlar calidad técnica durante la construcción. No se trata solo de que el código funcione, sino de que se pueda probar, revisar, medir y mantener. Esto se relaciona con lo visto en clase sobre revisión de código, pruebas y medición de la construcción.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se resume el ecosistema. pytest valida comportamiento, coverage.py mide qué tanto código prueban los tests, Ruff revisa estilo y errores comunes, mypy revisa tipos, y SonarQube hace análisis más global de calidad, seguridad y mantenibilidad.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pytest nos ayuda a definir pruebas automatizadas. coverage.py complementa la prueba porque indica si la suite realmente está ejercitando el código. Una prueba que pasa no necesariamente cubre todos los escenarios; por eso la cobertura permite encontrar huecos.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Ruff y mypy no reemplazan las pruebas. Son filtros previos. Ruff se enfoca en limpieza, estilo y errores comunes. mypy se enfoca en contratos de tipos. Juntos reducen errores triviales y aumentan la claridad del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SonarQube se puede ver como la herramienta que reúne muchos indicadores de calidad. Ayuda a identificar bugs, vulnerabilidades, code smells, duplicación y problemas de mantenibilidad. Es muy útil para revisión de pull requests y pipelines.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aplicación práctica sería convertir estas herramientas en un flujo. Primero se implementa, después se prueban reglas, se mide cobertura, se revisa estilo y tipos, se analiza la calidad general, y solo después se integra el cambio. Esto reduce improvisación.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práctica de matrícula, las pruebas validarían cada regla de descuento y recargo. coverage.py ayudaría a ver si algún caso quedó sin prueba. Ruff y mypy mejorarían limpieza y contratos. SonarQube serviría para revisar mantenibilidad, duplicación y posibles problemas.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ecosistema también ayuda a medir. No solo nos dice si algo está bien o mal, sino que produce datos para mejorar el proceso: cobertura, pruebas exitosas, problemas de estilo, errores de tipo y problemas de mantenibilidad.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importante reconocer límites. Estas herramientas no entienden por sí solas el negocio. Por eso deben combinarse con criterios de aceptación claros, revisión de código y validación con stakeholders. Son una ayuda fuerte, pero no reemplazan el criterio profesional.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cerrar, este ecosistema no es simplemente una lista de herramientas. Es una forma de construir con más disciplina. Ayuda a que el software sea más fácil de probar, medir, revisar y mantener.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son las fuentes oficiales que respaldan la presentación y también sirven para descargar o consultar cada herramienta.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pytest.org/" TargetMode="External"/><Relationship Id="rId2" Type="http://schemas.openxmlformats.org/officeDocument/2006/relationships/hyperlink" Target="https://coverage.readthedocs.io/" TargetMode="External"/><Relationship Id="rId3" Type="http://schemas.openxmlformats.org/officeDocument/2006/relationships/hyperlink" Target="https://docs.astral.sh/ruff/" TargetMode="External"/><Relationship Id="rId4" Type="http://schemas.openxmlformats.org/officeDocument/2006/relationships/hyperlink" Target="https://mypy-lang.org/" TargetMode="External"/><Relationship Id="rId5" Type="http://schemas.openxmlformats.org/officeDocument/2006/relationships/hyperlink" Target="https://docs.sonarsource.com/sonarqube-server/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37960" y="685800"/>
            <a:ext cx="5074920" cy="4343400"/>
          </a:xfrm>
          <a:prstGeom prst="roundRect">
            <a:avLst>
              <a:gd name="adj" fmla="val 2526"/>
            </a:avLst>
          </a:prstGeom>
          <a:solidFill>
            <a:srgbClr val="0B2037">
              <a:alpha val="94000"/>
            </a:srgbClr>
          </a:solidFill>
          <a:ln w="12700">
            <a:solidFill>
              <a:srgbClr val="18A0FB">
                <a:alpha val="60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pic>
        <p:nvPicPr>
          <p:cNvPr id="3" name="Image 0" descr="/mnt/data/a_modern_corporate_tech_office_meeting_scene_in_a_batch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896112"/>
            <a:ext cx="4709160" cy="2651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903720" y="38862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6EEF7"/>
                </a:solidFill>
              </a:rPr>
              <a:t>Automatización + métricas + revisión técnica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685800" y="960120"/>
            <a:ext cx="73152" cy="4206240"/>
          </a:xfrm>
          <a:prstGeom prst="rect">
            <a:avLst/>
          </a:prstGeom>
          <a:solidFill>
            <a:srgbClr val="20D68B"/>
          </a:solidFill>
          <a:ln w="12700">
            <a:solidFill>
              <a:srgbClr val="20D68B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868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D68B"/>
                </a:solidFill>
              </a:rPr>
              <a:t>Ecosistema #2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1234440"/>
            <a:ext cx="5166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Calidad de código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941832" y="196596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E6EEF7"/>
                </a:solidFill>
              </a:rPr>
              <a:t>pytest + coverage.py + Ruff + mypy + SonarQube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50976" y="59893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7D8"/>
                </a:solidFill>
              </a:rPr>
              <a:t>PSWE-03 · Construcción y Mantenimiento de Software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2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problema resuelve?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86868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9C7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 de “el código corre” a “el código es confiable, medible y mantenible”.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4754880" cy="4434840"/>
          </a:xfrm>
          <a:prstGeom prst="roundRect">
            <a:avLst>
              <a:gd name="adj" fmla="val 2474"/>
            </a:avLst>
          </a:prstGeom>
          <a:solidFill>
            <a:srgbClr val="0B243B">
              <a:alpha val="94000"/>
            </a:srgbClr>
          </a:solidFill>
          <a:ln w="12700">
            <a:solidFill>
              <a:srgbClr val="204F72">
                <a:alpha val="60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719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5C"/>
                </a:solidFill>
              </a:rPr>
              <a:t>Antes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38404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69D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Pruebas manuales o inexistentes.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880360"/>
            <a:ext cx="38404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69D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Errores detectados tarde.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3429000"/>
            <a:ext cx="38404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69D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Estilo inconsistente.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3977640"/>
            <a:ext cx="38404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69D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Difícil saber qué falta probar.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720840" y="1417320"/>
            <a:ext cx="4754880" cy="4434840"/>
          </a:xfrm>
          <a:prstGeom prst="roundRect">
            <a:avLst>
              <a:gd name="adj" fmla="val 2474"/>
            </a:avLst>
          </a:prstGeom>
          <a:solidFill>
            <a:srgbClr val="092C35">
              <a:alpha val="94000"/>
            </a:srgbClr>
          </a:solidFill>
          <a:ln w="12700">
            <a:solidFill>
              <a:srgbClr val="20D68B">
                <a:alpha val="60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95160" y="17190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D68B"/>
                </a:solidFill>
              </a:rPr>
              <a:t>Después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995160" y="2331720"/>
            <a:ext cx="38404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69D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Pruebas automáticas repetibles.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995160" y="2880360"/>
            <a:ext cx="38404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69D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Cobertura visible.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995160" y="3429000"/>
            <a:ext cx="38404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69D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Estándares automáticos.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995160" y="3977640"/>
            <a:ext cx="38404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69D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Calidad revisada antes de integrar.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51560" y="5925312"/>
            <a:ext cx="10149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166"/>
                </a:solidFill>
              </a:rPr>
              <a:t>Idea clave: si no puedo probarlo fácilmente, probablemente está mal diseñado.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6483096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PSWE-03 | Construcción y Mantenimiento de Software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384280" y="643737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Mapa del ecosistema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86868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9C7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herramienta cubre una parte diferente del control de calidad.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423160" y="3063240"/>
            <a:ext cx="594360" cy="0"/>
          </a:xfrm>
          <a:prstGeom prst="line">
            <a:avLst/>
          </a:prstGeom>
          <a:noFill/>
          <a:ln w="12700">
            <a:solidFill>
              <a:srgbClr val="1E7CB4">
                <a:alpha val="85000"/>
              </a:srgbClr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4526280" y="3063240"/>
            <a:ext cx="594360" cy="0"/>
          </a:xfrm>
          <a:prstGeom prst="line">
            <a:avLst/>
          </a:prstGeom>
          <a:noFill/>
          <a:ln w="12700">
            <a:solidFill>
              <a:srgbClr val="1E7CB4">
                <a:alpha val="85000"/>
              </a:srgbClr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629400" y="3063240"/>
            <a:ext cx="594360" cy="0"/>
          </a:xfrm>
          <a:prstGeom prst="line">
            <a:avLst/>
          </a:prstGeom>
          <a:noFill/>
          <a:ln w="12700">
            <a:solidFill>
              <a:srgbClr val="1E7CB4">
                <a:alpha val="85000"/>
              </a:srgbClr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732520" y="3063240"/>
            <a:ext cx="594360" cy="0"/>
          </a:xfrm>
          <a:prstGeom prst="line">
            <a:avLst/>
          </a:prstGeom>
          <a:noFill/>
          <a:ln w="12700">
            <a:solidFill>
              <a:srgbClr val="1E7CB4">
                <a:alpha val="85000"/>
              </a:srgbClr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31520" y="2331720"/>
            <a:ext cx="1600200" cy="1508760"/>
          </a:xfrm>
          <a:prstGeom prst="roundRect">
            <a:avLst>
              <a:gd name="adj" fmla="val 7273"/>
            </a:avLst>
          </a:prstGeom>
          <a:solidFill>
            <a:srgbClr val="0B2238">
              <a:alpha val="94000"/>
            </a:srgbClr>
          </a:solidFill>
          <a:ln w="12700">
            <a:solidFill>
              <a:srgbClr val="20D68B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316736" y="25146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🧪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29443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pytest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96112" y="32461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B9C7D8"/>
                </a:solidFill>
              </a:rPr>
              <a:t>Pruebas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834640" y="2331720"/>
            <a:ext cx="1600200" cy="1508760"/>
          </a:xfrm>
          <a:prstGeom prst="roundRect">
            <a:avLst>
              <a:gd name="adj" fmla="val 7273"/>
            </a:avLst>
          </a:prstGeom>
          <a:solidFill>
            <a:srgbClr val="0B2238">
              <a:alpha val="94000"/>
            </a:srgbClr>
          </a:solidFill>
          <a:ln w="12700">
            <a:solidFill>
              <a:srgbClr val="69D4FF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19856" y="25146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999232" y="29443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coverage.py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2999232" y="32461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B9C7D8"/>
                </a:solidFill>
              </a:rPr>
              <a:t>Cobertura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2331720"/>
            <a:ext cx="1600200" cy="1508760"/>
          </a:xfrm>
          <a:prstGeom prst="roundRect">
            <a:avLst>
              <a:gd name="adj" fmla="val 7273"/>
            </a:avLst>
          </a:prstGeom>
          <a:solidFill>
            <a:srgbClr val="0B2238">
              <a:alpha val="94000"/>
            </a:srgbClr>
          </a:solidFill>
          <a:ln w="12700">
            <a:solidFill>
              <a:srgbClr val="FFD166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522976" y="25146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102352" y="29443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Ruff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102352" y="32461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B9C7D8"/>
                </a:solidFill>
              </a:rPr>
              <a:t>Estilo + lint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40880" y="2331720"/>
            <a:ext cx="1600200" cy="1508760"/>
          </a:xfrm>
          <a:prstGeom prst="roundRect">
            <a:avLst>
              <a:gd name="adj" fmla="val 7273"/>
            </a:avLst>
          </a:prstGeom>
          <a:solidFill>
            <a:srgbClr val="0B2238">
              <a:alpha val="94000"/>
            </a:srgbClr>
          </a:solidFill>
          <a:ln w="12700">
            <a:solidFill>
              <a:srgbClr val="A890FF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626096" y="25146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🔎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205472" y="29443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mypy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205472" y="32461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B9C7D8"/>
                </a:solidFill>
              </a:rPr>
              <a:t>Tipos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144000" y="2331720"/>
            <a:ext cx="1600200" cy="1508760"/>
          </a:xfrm>
          <a:prstGeom prst="roundRect">
            <a:avLst>
              <a:gd name="adj" fmla="val 7273"/>
            </a:avLst>
          </a:prstGeom>
          <a:solidFill>
            <a:srgbClr val="0B2238">
              <a:alpha val="94000"/>
            </a:srgbClr>
          </a:solidFill>
          <a:ln w="12700">
            <a:solidFill>
              <a:srgbClr val="FF7A59"/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729216" y="25146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308592" y="29443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SonarQube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308592" y="32461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B9C7D8"/>
                </a:solidFill>
              </a:rPr>
              <a:t>Calidad global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4400" y="4617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Resultado esperado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5074920"/>
            <a:ext cx="987552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E6EEF7"/>
                </a:solidFill>
              </a:rPr>
              <a:t>Un flujo de construcción donde los cambios se validan con pruebas, métricas, reglas de estilo, tipos y análisis de calidad antes de aceptarse.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02920" y="6483096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PSWE-03 | Construcción y Mantenimiento de Software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1384280" y="643737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97880" y="1536192"/>
            <a:ext cx="5715000" cy="3566160"/>
          </a:xfrm>
          <a:prstGeom prst="roundRect">
            <a:avLst>
              <a:gd name="adj" fmla="val 3077"/>
            </a:avLst>
          </a:prstGeom>
          <a:solidFill>
            <a:srgbClr val="0B2037">
              <a:alpha val="94000"/>
            </a:srgbClr>
          </a:solidFill>
          <a:ln w="12700">
            <a:solidFill>
              <a:srgbClr val="69D4FF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pic>
        <p:nvPicPr>
          <p:cNvPr id="3" name="Image 0" descr="/mnt/data/a_detailed_clean_tech_illustration_photorealistic_batch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3328" y="1755648"/>
            <a:ext cx="5394960" cy="30358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114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pytest + coverage.py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58368" y="86868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9C7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Primero se prueba; luego se mide qué tan bien se probó.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731520" y="1600200"/>
            <a:ext cx="4480560" cy="1508760"/>
          </a:xfrm>
          <a:prstGeom prst="roundRect">
            <a:avLst>
              <a:gd name="adj" fmla="val 7273"/>
            </a:avLst>
          </a:prstGeom>
          <a:solidFill>
            <a:srgbClr val="092B31">
              <a:alpha val="94000"/>
            </a:srgbClr>
          </a:solidFill>
          <a:ln w="12700">
            <a:solidFill>
              <a:srgbClr val="20D68B">
                <a:alpha val="60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005840" y="18288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D68B"/>
                </a:solidFill>
              </a:rPr>
              <a:t>pytest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05840" y="2267712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Permite escribir pruebas pequeñas, legibles y automatizadas para validar reglas de negocio.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31520" y="3657600"/>
            <a:ext cx="4480560" cy="1508760"/>
          </a:xfrm>
          <a:prstGeom prst="roundRect">
            <a:avLst>
              <a:gd name="adj" fmla="val 7273"/>
            </a:avLst>
          </a:prstGeom>
          <a:solidFill>
            <a:srgbClr val="0B273C">
              <a:alpha val="94000"/>
            </a:srgbClr>
          </a:solidFill>
          <a:ln w="12700">
            <a:solidFill>
              <a:srgbClr val="69D4FF">
                <a:alpha val="60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05840" y="3886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9D4FF"/>
                </a:solidFill>
              </a:rPr>
              <a:t>coverage.py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005840" y="4325112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Mide qué partes del código fueron ejecutadas por las pruebas y cuáles quedaron sin cobertura.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02920" y="6236208"/>
            <a:ext cx="11155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40" dirty="0">
                <a:solidFill>
                  <a:srgbClr val="71879D"/>
                </a:solidFill>
              </a:rPr>
              <a:t>Fuentes: pytest.org; coverage.readthedocs.io</a:t>
            </a:r>
            <a:endParaRPr lang="en-US" sz="640" dirty="0"/>
          </a:p>
        </p:txBody>
      </p:sp>
      <p:sp>
        <p:nvSpPr>
          <p:cNvPr id="13" name="Text 10"/>
          <p:cNvSpPr/>
          <p:nvPr/>
        </p:nvSpPr>
        <p:spPr>
          <a:xfrm>
            <a:off x="502920" y="6483096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PSWE-03 | Construcción y Mantenimiento de Software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1384280" y="643737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Ruff + mypy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86868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9C7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Limpieza automática y prevención de errores antes de ejecutar.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77240" y="1508760"/>
            <a:ext cx="54864" cy="425196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1417320"/>
            <a:ext cx="4572000" cy="4389120"/>
          </a:xfrm>
          <a:prstGeom prst="roundRect">
            <a:avLst>
              <a:gd name="adj" fmla="val 2500"/>
            </a:avLst>
          </a:prstGeom>
          <a:solidFill>
            <a:srgbClr val="2F2409">
              <a:alpha val="94000"/>
            </a:srgbClr>
          </a:solidFill>
          <a:ln w="12700">
            <a:solidFill>
              <a:srgbClr val="FFD166">
                <a:alpha val="95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41732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D166"/>
                </a:solidFill>
              </a:rPr>
              <a:t>Ruff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17320" y="224028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</a:rPr>
              <a:t>Detecta problemas de estilo, imports no usados, reglas incumplidas y puede formatear el código.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417320" y="4315968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i="1" dirty="0">
                <a:solidFill>
                  <a:srgbClr val="E6EEF7"/>
                </a:solidFill>
              </a:rPr>
              <a:t>En práctica: evita código difícil de leer o inconsistente.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92240" y="1417320"/>
            <a:ext cx="4572000" cy="4389120"/>
          </a:xfrm>
          <a:prstGeom prst="roundRect">
            <a:avLst>
              <a:gd name="adj" fmla="val 2500"/>
            </a:avLst>
          </a:prstGeom>
          <a:solidFill>
            <a:srgbClr val="1B1235">
              <a:alpha val="94000"/>
            </a:srgbClr>
          </a:solidFill>
          <a:ln w="12700">
            <a:solidFill>
              <a:srgbClr val="A890FF">
                <a:alpha val="95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12280" y="17373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4A2FF"/>
                </a:solidFill>
              </a:rPr>
              <a:t>mypy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812280" y="224028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</a:rPr>
              <a:t>Valida tipos estáticos usando anotaciones. Ayuda a detectar errores de uso antes de correr el programa.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812280" y="4315968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i="1" dirty="0">
                <a:solidFill>
                  <a:srgbClr val="E6EEF7"/>
                </a:solidFill>
              </a:rPr>
              <a:t>En práctica: protege contratos entre funciones, clases y módulos.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02920" y="6236208"/>
            <a:ext cx="11155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40" dirty="0">
                <a:solidFill>
                  <a:srgbClr val="71879D"/>
                </a:solidFill>
              </a:rPr>
              <a:t>Fuentes: docs.astral.sh/ruff; mypy-lang.org</a:t>
            </a:r>
            <a:endParaRPr lang="en-US" sz="640" dirty="0"/>
          </a:p>
        </p:txBody>
      </p:sp>
      <p:sp>
        <p:nvSpPr>
          <p:cNvPr id="14" name="Text 12"/>
          <p:cNvSpPr/>
          <p:nvPr/>
        </p:nvSpPr>
        <p:spPr>
          <a:xfrm>
            <a:off x="502920" y="6483096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PSWE-03 | Construcción y Mantenimiento de Software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1384280" y="643737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2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0760" y="1417320"/>
            <a:ext cx="5349240" cy="3611880"/>
          </a:xfrm>
          <a:prstGeom prst="roundRect">
            <a:avLst>
              <a:gd name="adj" fmla="val 3038"/>
            </a:avLst>
          </a:prstGeom>
          <a:solidFill>
            <a:srgbClr val="071C2D">
              <a:alpha val="94000"/>
            </a:srgbClr>
          </a:solidFill>
          <a:ln w="12700">
            <a:solidFill>
              <a:srgbClr val="FF7A59">
                <a:alpha val="55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pic>
        <p:nvPicPr>
          <p:cNvPr id="3" name="Image 0" descr="/mnt/data/a_wide_cinematic_high_tech_digital_illustration_batch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1664208"/>
            <a:ext cx="4965192" cy="2788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114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SonarQube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58368" y="86868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9C7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vista ejecutiva de calidad, mantenibilidad y seguridad.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731520" y="1508760"/>
            <a:ext cx="4892040" cy="4343400"/>
          </a:xfrm>
          <a:prstGeom prst="roundRect">
            <a:avLst>
              <a:gd name="adj" fmla="val 2526"/>
            </a:avLst>
          </a:prstGeom>
          <a:solidFill>
            <a:srgbClr val="071C2D">
              <a:alpha val="94000"/>
            </a:srgbClr>
          </a:solidFill>
          <a:ln w="12700">
            <a:solidFill>
              <a:srgbClr val="FF7A59">
                <a:alpha val="90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051560" y="1874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Analiza el código para encontrar: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51560" y="2514600"/>
            <a:ext cx="38862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69D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Bugs y vulnerabilidades.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51560" y="2999232"/>
            <a:ext cx="38862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69D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smells y duplicación.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051560" y="3483864"/>
            <a:ext cx="38862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69D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Problemas de mantenibilidad.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051560" y="3968496"/>
            <a:ext cx="38862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69D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Riesgos antes del merge o release.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051560" y="480060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E6EEF7"/>
                </a:solidFill>
              </a:rPr>
              <a:t>Valor: transforma hallazgos técnicos en indicadores visibles para el equipo.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02920" y="6236208"/>
            <a:ext cx="11155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40" dirty="0">
                <a:solidFill>
                  <a:srgbClr val="71879D"/>
                </a:solidFill>
              </a:rPr>
              <a:t>Fuente: SonarQube Server Documentation / SonarSource</a:t>
            </a:r>
            <a:endParaRPr lang="en-US" sz="640" dirty="0"/>
          </a:p>
        </p:txBody>
      </p:sp>
      <p:sp>
        <p:nvSpPr>
          <p:cNvPr id="14" name="Text 11"/>
          <p:cNvSpPr/>
          <p:nvPr/>
        </p:nvSpPr>
        <p:spPr>
          <a:xfrm>
            <a:off x="502920" y="6483096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PSWE-03 | Construcción y Mantenimiento de Software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11384280" y="643737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recomendado de uso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86868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9C7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proceso simple para construir, revisar y aceptar cambios.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51560" y="2880360"/>
            <a:ext cx="9966960" cy="0"/>
          </a:xfrm>
          <a:prstGeom prst="line">
            <a:avLst/>
          </a:prstGeom>
          <a:noFill/>
          <a:ln w="12700">
            <a:solidFill>
              <a:srgbClr val="217DB0">
                <a:alpha val="80000"/>
              </a:srgbClr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685800" y="2487168"/>
            <a:ext cx="777240" cy="777240"/>
          </a:xfrm>
          <a:prstGeom prst="ellipse">
            <a:avLst/>
          </a:prstGeom>
          <a:solidFill>
            <a:srgbClr val="18A0FB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6700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35204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</a:rPr>
              <a:t>Implementar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2560320" y="2487168"/>
            <a:ext cx="777240" cy="777240"/>
          </a:xfrm>
          <a:prstGeom prst="ellipse">
            <a:avLst/>
          </a:prstGeom>
          <a:solidFill>
            <a:srgbClr val="18A0FB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15768" y="26700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377440" y="35204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</a:rPr>
              <a:t>Probar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4434840" y="2487168"/>
            <a:ext cx="777240" cy="777240"/>
          </a:xfrm>
          <a:prstGeom prst="ellipse">
            <a:avLst/>
          </a:prstGeom>
          <a:solidFill>
            <a:srgbClr val="18A0FB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0288" y="26700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251960" y="35204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</a:rPr>
              <a:t>Medir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309360" y="2487168"/>
            <a:ext cx="777240" cy="777240"/>
          </a:xfrm>
          <a:prstGeom prst="ellipse">
            <a:avLst/>
          </a:prstGeom>
          <a:solidFill>
            <a:srgbClr val="18A0FB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64808" y="26700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126480" y="35204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</a:rPr>
              <a:t>Revisar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8183880" y="2487168"/>
            <a:ext cx="777240" cy="777240"/>
          </a:xfrm>
          <a:prstGeom prst="ellipse">
            <a:avLst/>
          </a:prstGeom>
          <a:solidFill>
            <a:srgbClr val="18A0FB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39328" y="26700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01000" y="35204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</a:rPr>
              <a:t>Analizar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0058400" y="2487168"/>
            <a:ext cx="777240" cy="777240"/>
          </a:xfrm>
          <a:prstGeom prst="ellipse">
            <a:avLst/>
          </a:prstGeom>
          <a:solidFill>
            <a:srgbClr val="20D68B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13848" y="26700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875520" y="35204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</a:rPr>
              <a:t>Integrar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417320" y="5230368"/>
            <a:ext cx="9235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66"/>
                </a:solidFill>
              </a:rPr>
              <a:t>Este flujo se puede ejecutar localmente o dentro de CI/CD.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2920" y="6483096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PSWE-03 | Construcción y Mantenimiento de Software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384280" y="643737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2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Aplicación: práctica de matrícula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86868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9C7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se usaría este ecosistema en un caso pequeño de Python.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4892040" cy="4434840"/>
          </a:xfrm>
          <a:prstGeom prst="roundRect">
            <a:avLst>
              <a:gd name="adj" fmla="val 2474"/>
            </a:avLst>
          </a:prstGeom>
          <a:solidFill>
            <a:srgbClr val="0B243B">
              <a:alpha val="94000"/>
            </a:srgbClr>
          </a:solidFill>
          <a:ln w="12700">
            <a:solidFill>
              <a:srgbClr val="69D4FF">
                <a:alpha val="60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719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9D4FF"/>
                </a:solidFill>
              </a:rPr>
              <a:t>Reglas a validar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402336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69D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Nuevo: 5% de descuento.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2743200"/>
            <a:ext cx="402336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69D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Regular: 3% de descuento.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3154680"/>
            <a:ext cx="402336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69D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Beca: 20% de descuento.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3566160"/>
            <a:ext cx="402336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69D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Virtual/presencial: ajuste fijo.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3977640"/>
            <a:ext cx="402336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69D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Diciembre y total mínimo 0.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1417320"/>
            <a:ext cx="4892040" cy="4434840"/>
          </a:xfrm>
          <a:prstGeom prst="roundRect">
            <a:avLst>
              <a:gd name="adj" fmla="val 2474"/>
            </a:avLst>
          </a:prstGeom>
          <a:solidFill>
            <a:srgbClr val="0A2C2B">
              <a:alpha val="94000"/>
            </a:srgbClr>
          </a:solidFill>
          <a:ln w="12700">
            <a:solidFill>
              <a:srgbClr val="20D68B">
                <a:alpha val="60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675120" y="17190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D68B"/>
                </a:solidFill>
              </a:rPr>
              <a:t>Controles de calidad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720840" y="2194560"/>
            <a:ext cx="4069080" cy="640080"/>
          </a:xfrm>
          <a:prstGeom prst="roundRect">
            <a:avLst>
              <a:gd name="adj" fmla="val 17143"/>
            </a:avLst>
          </a:prstGeom>
          <a:solidFill>
            <a:srgbClr val="0D2137">
              <a:alpha val="94000"/>
            </a:srgbClr>
          </a:solidFill>
          <a:ln w="12700">
            <a:solidFill>
              <a:srgbClr val="20D68B">
                <a:alpha val="85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30568" y="2331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D68B"/>
                </a:solidFill>
              </a:rPr>
              <a:t>🧪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78040" y="2276856"/>
            <a:ext cx="3520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pytest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505456"/>
            <a:ext cx="3520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B9C7D8"/>
                </a:solidFill>
              </a:rPr>
              <a:t>casos normales y límite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6720840" y="2926080"/>
            <a:ext cx="4069080" cy="640080"/>
          </a:xfrm>
          <a:prstGeom prst="roundRect">
            <a:avLst>
              <a:gd name="adj" fmla="val 17143"/>
            </a:avLst>
          </a:prstGeom>
          <a:solidFill>
            <a:srgbClr val="0D2137">
              <a:alpha val="94000"/>
            </a:srgbClr>
          </a:solidFill>
          <a:ln w="12700">
            <a:solidFill>
              <a:srgbClr val="69D4FF">
                <a:alpha val="85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30568" y="3063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9D4FF"/>
                </a:solidFill>
              </a:rPr>
              <a:t>📊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78040" y="3008376"/>
            <a:ext cx="3520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coverage.py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178040" y="3236976"/>
            <a:ext cx="3520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B9C7D8"/>
                </a:solidFill>
              </a:rPr>
              <a:t>ver reglas sin prueba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6720840" y="3657600"/>
            <a:ext cx="4069080" cy="640080"/>
          </a:xfrm>
          <a:prstGeom prst="roundRect">
            <a:avLst>
              <a:gd name="adj" fmla="val 17143"/>
            </a:avLst>
          </a:prstGeom>
          <a:solidFill>
            <a:srgbClr val="0D2137">
              <a:alpha val="94000"/>
            </a:srgbClr>
          </a:solidFill>
          <a:ln w="12700">
            <a:solidFill>
              <a:srgbClr val="FFD166">
                <a:alpha val="85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830568" y="37947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166"/>
                </a:solidFill>
              </a:rPr>
              <a:t>⚙️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78040" y="3739896"/>
            <a:ext cx="3520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Ruff + mypy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178040" y="3968496"/>
            <a:ext cx="3520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B9C7D8"/>
                </a:solidFill>
              </a:rPr>
              <a:t>limpieza y contratos</a:t>
            </a:r>
            <a:endParaRPr lang="en-US" sz="1020" dirty="0"/>
          </a:p>
        </p:txBody>
      </p:sp>
      <p:sp>
        <p:nvSpPr>
          <p:cNvPr id="25" name="Shape 23"/>
          <p:cNvSpPr/>
          <p:nvPr/>
        </p:nvSpPr>
        <p:spPr>
          <a:xfrm>
            <a:off x="6720840" y="4389120"/>
            <a:ext cx="4069080" cy="640080"/>
          </a:xfrm>
          <a:prstGeom prst="roundRect">
            <a:avLst>
              <a:gd name="adj" fmla="val 17143"/>
            </a:avLst>
          </a:prstGeom>
          <a:solidFill>
            <a:srgbClr val="0D2137">
              <a:alpha val="94000"/>
            </a:srgbClr>
          </a:solidFill>
          <a:ln w="12700">
            <a:solidFill>
              <a:srgbClr val="FF7A59">
                <a:alpha val="85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830568" y="45262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7A59"/>
                </a:solidFill>
              </a:rPr>
              <a:t>🛡️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78040" y="4471416"/>
            <a:ext cx="3520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SonarQube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178040" y="4700016"/>
            <a:ext cx="3520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B9C7D8"/>
                </a:solidFill>
              </a:rPr>
              <a:t>mantenibilidad global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502920" y="6483096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PSWE-03 | Construcción y Mantenimiento de Software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1384280" y="643737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Utilidad y métricas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86868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9C7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valor del ecosistema se observa en indicadores concretos.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0" y="1298448"/>
            <a:ext cx="12191695" cy="9144"/>
          </a:xfrm>
          <a:prstGeom prst="rect">
            <a:avLst/>
          </a:prstGeom>
          <a:solidFill>
            <a:srgbClr val="1F547B">
              <a:alpha val="50000"/>
            </a:srgbClr>
          </a:solidFill>
          <a:ln w="12700">
            <a:solidFill>
              <a:srgbClr val="1F547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459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</a:rPr>
              <a:t>Cobertura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3566160" y="16459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E6EEF7"/>
                </a:solidFill>
              </a:rPr>
              <a:t>% de código ejecutado por pruebas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0" y="16459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9D4FF"/>
                </a:solidFill>
              </a:rPr>
              <a:t>coverage.py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23957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</a:rPr>
              <a:t>Pruebas exitosas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3566160" y="23957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E6EEF7"/>
                </a:solidFill>
              </a:rPr>
              <a:t>% de tests que pasan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0" y="23957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9D4FF"/>
                </a:solidFill>
              </a:rPr>
              <a:t>pytest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14400" y="31455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</a:rPr>
              <a:t>Problemas de estilo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3566160" y="31455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E6EEF7"/>
                </a:solidFill>
              </a:rPr>
              <a:t>Errores, imports, formato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229600" y="31455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9D4FF"/>
                </a:solidFill>
              </a:rPr>
              <a:t>Ruff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14400" y="389534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</a:rPr>
              <a:t>Errores de tipo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3566160" y="38953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E6EEF7"/>
                </a:solidFill>
              </a:rPr>
              <a:t>Contratos rotos o datos incorrectos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229600" y="389534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9D4FF"/>
                </a:solidFill>
              </a:rPr>
              <a:t>mypy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14400" y="46451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</a:rPr>
              <a:t>Mantenibilidad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566160" y="46451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E6EEF7"/>
                </a:solidFill>
              </a:rPr>
              <a:t>Bugs, smells, duplicación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229600" y="46451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9D4FF"/>
                </a:solidFill>
              </a:rPr>
              <a:t>SonarQube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51560" y="565099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166"/>
                </a:solidFill>
              </a:rPr>
              <a:t>Medir no es castigar: medir ayuda a aprender, mejorar y reducir defectos.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2920" y="6483096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PSWE-03 | Construcción y Mantenimiento de Software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384280" y="643737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Límites del ecosistema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86868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9C7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herramientas ayudan, pero no reemplazan el criterio del equipo.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77240" y="1417320"/>
            <a:ext cx="10652760" cy="4434840"/>
          </a:xfrm>
          <a:prstGeom prst="roundRect">
            <a:avLst>
              <a:gd name="adj" fmla="val 2474"/>
            </a:avLst>
          </a:prstGeom>
          <a:solidFill>
            <a:srgbClr val="0B243B">
              <a:alpha val="94000"/>
            </a:srgbClr>
          </a:solidFill>
          <a:ln w="12700">
            <a:solidFill>
              <a:srgbClr val="304E65">
                <a:alpha val="60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43000" y="18745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D166"/>
                </a:solidFill>
              </a:rPr>
              <a:t>⚠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645920" y="18745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No garantizan reglas correctas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2258568"/>
            <a:ext cx="4160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B9C7D8"/>
                </a:solidFill>
              </a:rPr>
              <a:t>Una prueba puede validar una regla mal entendida.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143000" y="36576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D166"/>
                </a:solidFill>
              </a:rPr>
              <a:t>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36576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Cobertura alta no siempre es calidad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45920" y="4041648"/>
            <a:ext cx="4160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B9C7D8"/>
                </a:solidFill>
              </a:rPr>
              <a:t>Se pueden probar líneas sin probar escenarios importantes.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46520" y="18745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D166"/>
                </a:solidFill>
              </a:rPr>
              <a:t>⚠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49440" y="18745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Requieren configuración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949440" y="2258568"/>
            <a:ext cx="4160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B9C7D8"/>
                </a:solidFill>
              </a:rPr>
              <a:t>Sin estándares, las herramientas pueden volverse ruido.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46520" y="36576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D166"/>
                </a:solidFill>
              </a:rPr>
              <a:t>⚠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949440" y="36576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No sustituyen revisión humana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49440" y="4041648"/>
            <a:ext cx="4160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B9C7D8"/>
                </a:solidFill>
              </a:rPr>
              <a:t>La arquitectura, el negocio y el contexto necesitan criterio profesional.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097280" y="594360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0D68B"/>
                </a:solidFill>
              </a:rPr>
              <a:t>Conclusión: automatiza la calidad técnica, pero debe estar conectado a requerimientos y criterios de aceptación.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502920" y="6483096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PSWE-03 | Construcción y Mantenimiento de Software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384280" y="643737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1005840"/>
            <a:ext cx="4754880" cy="3520440"/>
          </a:xfrm>
          <a:prstGeom prst="roundRect">
            <a:avLst>
              <a:gd name="adj" fmla="val 3117"/>
            </a:avLst>
          </a:prstGeom>
          <a:solidFill>
            <a:srgbClr val="0B2037">
              <a:alpha val="94000"/>
            </a:srgbClr>
          </a:solidFill>
          <a:ln w="12700">
            <a:solidFill>
              <a:srgbClr val="18A0FB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pic>
        <p:nvPicPr>
          <p:cNvPr id="3" name="Image 0" descr="/mnt/data/a_modern_corporate_tech_office_meeting_scene_in_a_batch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234440"/>
            <a:ext cx="4407408" cy="24780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995160" y="38862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6EEF7"/>
                </a:solidFill>
              </a:rPr>
              <a:t>Código más confiable antes de integrar cambios</a:t>
            </a:r>
            <a:endParaRPr lang="en-US" sz="1350" dirty="0"/>
          </a:p>
        </p:txBody>
      </p:sp>
      <p:sp>
        <p:nvSpPr>
          <p:cNvPr id="5" name="Shape 2"/>
          <p:cNvSpPr/>
          <p:nvPr/>
        </p:nvSpPr>
        <p:spPr>
          <a:xfrm>
            <a:off x="777240" y="822960"/>
            <a:ext cx="5760720" cy="5212080"/>
          </a:xfrm>
          <a:prstGeom prst="roundRect">
            <a:avLst>
              <a:gd name="adj" fmla="val 2105"/>
            </a:avLst>
          </a:prstGeom>
          <a:solidFill>
            <a:srgbClr val="061B2B">
              <a:alpha val="94000"/>
            </a:srgbClr>
          </a:solidFill>
          <a:ln w="12700">
            <a:solidFill>
              <a:srgbClr val="20D68B">
                <a:alpha val="95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000000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143000" y="1234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D68B"/>
                </a:solidFill>
              </a:rPr>
              <a:t>Mensaje final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097280" y="1783080"/>
            <a:ext cx="4800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El ecosistema de calidad de código convierte la construcción en un proceso más controlado, medible y mantenible.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1143000" y="379476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E6EEF7"/>
                </a:solidFill>
              </a:rPr>
              <a:t>No busca complicar el desarrollo: busca reducir defectos, mejorar claridad y aumentar confianza antes de integrar cambios.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143000" y="49834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69D4FF"/>
                </a:solidFill>
              </a:rPr>
              <a:t>pytest · coverage.py · Ruff · mypy · SonarQube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6483096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PSWE-03 | Construcción y Mantenimiento de Software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11384280" y="643737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Referencias y descargas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86868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9C7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Fuentes oficiales consultadas para la investigación.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60120" y="16002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pytest</a:t>
            </a:r>
            <a:endParaRPr lang="en-US" sz="15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2743200" y="160020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u="sng" dirty="0">
                <a:solidFill>
                  <a:srgbClr val="69D4FF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https://pytest.org/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60120" y="23134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coverage.py</a:t>
            </a:r>
            <a:endParaRPr lang="en-US" sz="15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2743200" y="231343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u="sng" dirty="0">
                <a:solidFill>
                  <a:srgbClr val="69D4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https://coverage.readthedocs.io/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302666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Ruff</a:t>
            </a:r>
            <a:endParaRPr lang="en-US" sz="1500" dirty="0"/>
          </a:p>
        </p:txBody>
      </p:sp>
      <p:sp>
        <p:nvSpPr>
          <p:cNvPr id="9" name="Text 7">
            <a:hlinkClick r:id="rId3" tooltip=""/>
          </p:cNvPr>
          <p:cNvSpPr/>
          <p:nvPr/>
        </p:nvSpPr>
        <p:spPr>
          <a:xfrm>
            <a:off x="2743200" y="302666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u="sng" dirty="0">
                <a:solidFill>
                  <a:srgbClr val="69D4FF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https://docs.astral.sh/ruff/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60120" y="373989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mypy</a:t>
            </a:r>
            <a:endParaRPr lang="en-US" sz="1500" dirty="0"/>
          </a:p>
        </p:txBody>
      </p:sp>
      <p:sp>
        <p:nvSpPr>
          <p:cNvPr id="11" name="Text 9">
            <a:hlinkClick r:id="rId4" tooltip=""/>
          </p:cNvPr>
          <p:cNvSpPr/>
          <p:nvPr/>
        </p:nvSpPr>
        <p:spPr>
          <a:xfrm>
            <a:off x="2743200" y="37398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u="sng" dirty="0">
                <a:solidFill>
                  <a:srgbClr val="69D4FF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https://mypy-lang.org/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60120" y="44531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SonarQube</a:t>
            </a:r>
            <a:endParaRPr lang="en-US" sz="1500" dirty="0"/>
          </a:p>
        </p:txBody>
      </p:sp>
      <p:sp>
        <p:nvSpPr>
          <p:cNvPr id="13" name="Text 11">
            <a:hlinkClick r:id="rId5" tooltip=""/>
          </p:cNvPr>
          <p:cNvSpPr/>
          <p:nvPr/>
        </p:nvSpPr>
        <p:spPr>
          <a:xfrm>
            <a:off x="2743200" y="445312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u="sng" dirty="0">
                <a:solidFill>
                  <a:srgbClr val="69D4FF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https://docs.sonarsource.com/sonarqube-server/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60120" y="568756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9C7D8"/>
                </a:solidFill>
              </a:rPr>
              <a:t>Material base: Práctica 2 y Clase #2 del curso PSWE-03.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02920" y="6483096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PSWE-03 | Construcción y Mantenimiento de Software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384280" y="643737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6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CENFOTEC / PSWE-03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Ecosistema de calidad de código</dc:title>
  <dc:subject>PSWE-03 Practica 2 - Ecosistema de calidad de codigo</dc:subject>
  <dc:creator>OpenAI</dc:creator>
  <cp:lastModifiedBy>OpenAI</cp:lastModifiedBy>
  <cp:revision>1</cp:revision>
  <dcterms:created xsi:type="dcterms:W3CDTF">2026-05-23T01:30:23Z</dcterms:created>
  <dcterms:modified xsi:type="dcterms:W3CDTF">2026-05-23T01:30:23Z</dcterms:modified>
</cp:coreProperties>
</file>