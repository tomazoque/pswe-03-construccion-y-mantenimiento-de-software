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64" r:id="rId5"/>
    <p:sldId id="265" r:id="rId6"/>
    <p:sldId id="263" r:id="rId7"/>
    <p:sldId id="258" r:id="rId8"/>
    <p:sldId id="262" r:id="rId9"/>
    <p:sldId id="259" r:id="rId10"/>
    <p:sldId id="260" r:id="rId11"/>
    <p:sldId id="261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s Azofeifa" userId="a105d2f67a7af5de" providerId="LiveId" clId="{2B5F2816-5AF2-4CC6-81C1-8EDB5F85AAD8}"/>
    <pc:docChg chg="modSld sldOrd">
      <pc:chgData name="Tomás Azofeifa" userId="a105d2f67a7af5de" providerId="LiveId" clId="{2B5F2816-5AF2-4CC6-81C1-8EDB5F85AAD8}" dt="2026-05-23T01:43:24.633" v="15"/>
      <pc:docMkLst>
        <pc:docMk/>
      </pc:docMkLst>
      <pc:sldChg chg="ord">
        <pc:chgData name="Tomás Azofeifa" userId="a105d2f67a7af5de" providerId="LiveId" clId="{2B5F2816-5AF2-4CC6-81C1-8EDB5F85AAD8}" dt="2026-05-23T01:42:15.008" v="3"/>
        <pc:sldMkLst>
          <pc:docMk/>
          <pc:sldMk cId="0" sldId="258"/>
        </pc:sldMkLst>
      </pc:sldChg>
      <pc:sldChg chg="ord">
        <pc:chgData name="Tomás Azofeifa" userId="a105d2f67a7af5de" providerId="LiveId" clId="{2B5F2816-5AF2-4CC6-81C1-8EDB5F85AAD8}" dt="2026-05-23T01:42:09.526" v="1"/>
        <pc:sldMkLst>
          <pc:docMk/>
          <pc:sldMk cId="0" sldId="259"/>
        </pc:sldMkLst>
      </pc:sldChg>
      <pc:sldChg chg="ord">
        <pc:chgData name="Tomás Azofeifa" userId="a105d2f67a7af5de" providerId="LiveId" clId="{2B5F2816-5AF2-4CC6-81C1-8EDB5F85AAD8}" dt="2026-05-23T01:42:09.526" v="1"/>
        <pc:sldMkLst>
          <pc:docMk/>
          <pc:sldMk cId="0" sldId="260"/>
        </pc:sldMkLst>
      </pc:sldChg>
      <pc:sldChg chg="ord">
        <pc:chgData name="Tomás Azofeifa" userId="a105d2f67a7af5de" providerId="LiveId" clId="{2B5F2816-5AF2-4CC6-81C1-8EDB5F85AAD8}" dt="2026-05-23T01:43:24.633" v="15"/>
        <pc:sldMkLst>
          <pc:docMk/>
          <pc:sldMk cId="0" sldId="261"/>
        </pc:sldMkLst>
      </pc:sldChg>
      <pc:sldChg chg="ord">
        <pc:chgData name="Tomás Azofeifa" userId="a105d2f67a7af5de" providerId="LiveId" clId="{2B5F2816-5AF2-4CC6-81C1-8EDB5F85AAD8}" dt="2026-05-23T01:42:23.415" v="5"/>
        <pc:sldMkLst>
          <pc:docMk/>
          <pc:sldMk cId="0" sldId="262"/>
        </pc:sldMkLst>
      </pc:sldChg>
      <pc:sldChg chg="ord">
        <pc:chgData name="Tomás Azofeifa" userId="a105d2f67a7af5de" providerId="LiveId" clId="{2B5F2816-5AF2-4CC6-81C1-8EDB5F85AAD8}" dt="2026-05-23T01:42:54.511" v="11"/>
        <pc:sldMkLst>
          <pc:docMk/>
          <pc:sldMk cId="0" sldId="264"/>
        </pc:sldMkLst>
      </pc:sldChg>
      <pc:sldChg chg="ord">
        <pc:chgData name="Tomás Azofeifa" userId="a105d2f67a7af5de" providerId="LiveId" clId="{2B5F2816-5AF2-4CC6-81C1-8EDB5F85AAD8}" dt="2026-05-23T01:42:57.324" v="13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577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Buenas, hoy vamos a presentar el ecosistema de calidad de código. La idea principal es explicar cómo estas cinco herramientas ayudan a construir software más confiable, mantenible y verificable antes de integrarlo o entregarlo.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ecosistema aparece cuando el equipo necesita controlar calidad técnica durante la construcción. No se trata solo de que el código funcione, sino de que se pueda probar, revisar, medir y mantener. Esto se relaciona con lo visto en clase sobre revisión de código, pruebas y medición de la construcción.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ecosistema también ayuda a medir. No solo nos dice si algo está bien o mal, sino que produce datos para mejorar el proceso: cobertura, pruebas exitosas, problemas de estilo, errores de tipo y problemas de mantenibilidad.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importante reconocer límites. Estas herramientas no entienden por sí solas el negocio. Por eso deben combinarse con criterios de aceptación claros, revisión de código y validación con stakeholders. Son una ayuda fuerte, pero no reemplazan el criterio profesional.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práctica de matrícula, las pruebas validarían cada regla de descuento y recargo. coverage.py ayudaría a ver si algún caso quedó sin prueba. Ruff y mypy mejorarían limpieza y contratos. SonarQube serviría para revisar mantenibilidad, duplicación y posibles problemas.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resume el ecosistema. pytest valida comportamiento, coverage.py mide qué tanto código prueban los tests, Ruff revisa estilo y errores comunes, mypy revisa tipos, y SonarQube hace análisis más global de calidad, seguridad y mantenibilidad.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aplicación práctica sería convertir estas herramientas en un flujo. Primero se implementa, después se prueban reglas, se mide cobertura, se revisa estilo y tipos, se analiza la calidad general, y solo después se integra el cambio. Esto reduce improvisación.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pytest nos ayuda a definir pruebas automatizadas. coverage.py complementa la prueba porque indica si la suite realmente está ejercitando el código. Una prueba que pasa no necesariamente cubre todos los escenarios; por eso la cobertura permite encontrar huecos.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Ruff y mypy no reemplazan las pruebas. Son filtros previos. Ruff se enfoca en limpieza, estilo y errores comunes. mypy se enfoca en contratos de tipos. Juntos reducen errores triviales y aumentan la claridad del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SonarQube se puede ver como la herramienta que reúne muchos indicadores de calidad. Ayuda a identificar bugs, vulnerabilidades, code smells, duplicación y problemas de mantenibilidad. Es muy útil para revisión de pull requests y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cerrar, este ecosistema no es simplemente una lista de herramientas. Es una forma de construir con más disciplina. Ayuda a que el software sea más fácil de probar, medir, revisar y mantener.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fuentes oficiales que respaldan la presentación y también sirven para descargar o consultar cada herramienta.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ytest.org/" TargetMode="External"/><Relationship Id="rId7" Type="http://schemas.openxmlformats.org/officeDocument/2006/relationships/hyperlink" Target="https://docs.sonarsource.com/sonarqube-server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ypy-lang.org/" TargetMode="External"/><Relationship Id="rId5" Type="http://schemas.openxmlformats.org/officeDocument/2006/relationships/hyperlink" Target="https://docs.astral.sh/ruff/" TargetMode="External"/><Relationship Id="rId4" Type="http://schemas.openxmlformats.org/officeDocument/2006/relationships/hyperlink" Target="https://coverage.readthedocs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685800"/>
            <a:ext cx="5074920" cy="4343400"/>
          </a:xfrm>
          <a:prstGeom prst="roundRect">
            <a:avLst>
              <a:gd name="adj" fmla="val 2526"/>
            </a:avLst>
          </a:prstGeom>
          <a:solidFill>
            <a:srgbClr val="0B2037">
              <a:alpha val="94000"/>
            </a:srgbClr>
          </a:solidFill>
          <a:ln w="12700">
            <a:solidFill>
              <a:srgbClr val="18A0FB">
                <a:alpha val="6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/mnt/data/a_modern_corporate_tech_office_meeting_scene_in_a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896112"/>
            <a:ext cx="4709160" cy="2651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03720" y="3886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EF7"/>
                </a:solidFill>
              </a:rPr>
              <a:t>Automatización + métricas + revisión técnica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85800" y="960120"/>
            <a:ext cx="73152" cy="4206240"/>
          </a:xfrm>
          <a:prstGeom prst="rect">
            <a:avLst/>
          </a:prstGeom>
          <a:solidFill>
            <a:srgbClr val="20D68B"/>
          </a:solidFill>
          <a:ln w="12700">
            <a:solidFill>
              <a:srgbClr val="20D68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960120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D68B"/>
                </a:solidFill>
              </a:rPr>
              <a:t>Ecosistema #2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1234440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 de código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941832" y="19659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6EEF7"/>
                </a:solidFill>
              </a:rPr>
              <a:t>pytest + coverage.py + Ruff + mypy + SonarQube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50976" y="5989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7D8"/>
                </a:solidFill>
              </a:rPr>
              <a:t>PSWE-03 · Construcción y Mantenimiento de Software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problema resuelve?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 de “el código corre” a “el código es confiable, medible y mantenible”.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754880" cy="4434840"/>
          </a:xfrm>
          <a:prstGeom prst="roundRect">
            <a:avLst>
              <a:gd name="adj" fmla="val 2474"/>
            </a:avLst>
          </a:prstGeom>
          <a:solidFill>
            <a:srgbClr val="0B243B">
              <a:alpha val="94000"/>
            </a:srgbClr>
          </a:solidFill>
          <a:ln w="12700">
            <a:solidFill>
              <a:srgbClr val="204F72">
                <a:alpha val="6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719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</a:rPr>
              <a:t>Antes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manuales o inexistentes.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detectados tarde.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Estilo inconsistente.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Difícil saber qué falta probar.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720840" y="1417320"/>
            <a:ext cx="4754880" cy="4434840"/>
          </a:xfrm>
          <a:prstGeom prst="roundRect">
            <a:avLst>
              <a:gd name="adj" fmla="val 2474"/>
            </a:avLst>
          </a:prstGeom>
          <a:solidFill>
            <a:srgbClr val="092C35">
              <a:alpha val="94000"/>
            </a:srgbClr>
          </a:solidFill>
          <a:ln w="12700">
            <a:solidFill>
              <a:srgbClr val="20D68B">
                <a:alpha val="6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995160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D68B"/>
                </a:solidFill>
              </a:rPr>
              <a:t>Después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9516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automáticas repetibles.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9516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visible.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9516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Estándares automáticos.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9516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revisada antes de integrar.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51560" y="592531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166"/>
                </a:solidFill>
              </a:rPr>
              <a:t>Idea clave: si no puedo probarlo fácilmente, probablemente está mal diseñado.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PSWE-03 | Construcción y Mantenimiento de Software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38428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550">
                <a:solidFill>
                  <a:srgbClr val="ABBECD"/>
                </a:solidFill>
                <a:latin typeface="Aptos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411480"/>
            <a:ext cx="36576" cy="5486400"/>
          </a:xfrm>
          <a:prstGeom prst="rect">
            <a:avLst/>
          </a:prstGeom>
          <a:solidFill>
            <a:srgbClr val="11C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68680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300" b="1">
                <a:solidFill>
                  <a:srgbClr val="F3F7FB"/>
                </a:solidFill>
                <a:latin typeface="Aptos Display"/>
              </a:rPr>
              <a:t>Alcance del ecosistema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41248"/>
            <a:ext cx="98755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0">
                <a:solidFill>
                  <a:srgbClr val="ABBECD"/>
                </a:solidFill>
                <a:latin typeface="Aptos"/>
              </a:rPr>
              <a:t>Define qué cubre y qué no cubre el conjunto pytest + coverage.py + Ruff + mypy + SonarQube.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5120640" cy="3977639"/>
          </a:xfrm>
          <a:prstGeom prst="roundRect">
            <a:avLst/>
          </a:prstGeom>
          <a:solidFill>
            <a:srgbClr val="071F2F"/>
          </a:solidFill>
          <a:ln w="15240">
            <a:solidFill>
              <a:srgbClr val="11C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120640" cy="3977639"/>
          </a:xfrm>
          <a:prstGeom prst="roundRect">
            <a:avLst/>
          </a:prstGeom>
          <a:solidFill>
            <a:srgbClr val="071F2F"/>
          </a:solidFill>
          <a:ln w="1524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700784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11C49E"/>
                </a:solidFill>
                <a:latin typeface="Aptos"/>
              </a:rPr>
              <a:t>Incluye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4343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ABBECD"/>
                </a:solidFill>
                <a:latin typeface="Aptos"/>
              </a:rPr>
              <a:t>Control de calidad técnica durante la construcción.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452628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3F7FB"/>
                </a:solidFill>
                <a:latin typeface="Aptos"/>
              </a:defRPr>
            </a:pPr>
            <a:r>
              <a:t>• Pruebas automatizadas del comportamiento esperado.</a:t>
            </a:r>
          </a:p>
          <a:p>
            <a:pPr>
              <a:spcAft>
                <a:spcPts val="800"/>
              </a:spcAft>
              <a:defRPr sz="1220">
                <a:solidFill>
                  <a:srgbClr val="F3F7FB"/>
                </a:solidFill>
                <a:latin typeface="Aptos"/>
              </a:defRPr>
            </a:pPr>
            <a:r>
              <a:t>• Cobertura para saber qué código fue probado.</a:t>
            </a:r>
          </a:p>
          <a:p>
            <a:pPr>
              <a:spcAft>
                <a:spcPts val="800"/>
              </a:spcAft>
              <a:defRPr sz="1220">
                <a:solidFill>
                  <a:srgbClr val="F3F7FB"/>
                </a:solidFill>
                <a:latin typeface="Aptos"/>
              </a:defRPr>
            </a:pPr>
            <a:r>
              <a:t>• Reglas de estilo, linting y formato consistente.</a:t>
            </a:r>
          </a:p>
          <a:p>
            <a:pPr>
              <a:spcAft>
                <a:spcPts val="800"/>
              </a:spcAft>
              <a:defRPr sz="1220">
                <a:solidFill>
                  <a:srgbClr val="F3F7FB"/>
                </a:solidFill>
                <a:latin typeface="Aptos"/>
              </a:defRPr>
            </a:pPr>
            <a:r>
              <a:t>• Validación de tipos y contratos básicos.</a:t>
            </a:r>
          </a:p>
          <a:p>
            <a:pPr>
              <a:spcAft>
                <a:spcPts val="800"/>
              </a:spcAft>
              <a:defRPr sz="1220">
                <a:solidFill>
                  <a:srgbClr val="F3F7FB"/>
                </a:solidFill>
                <a:latin typeface="Aptos"/>
              </a:defRPr>
            </a:pPr>
            <a:r>
              <a:t>• Análisis de mantenibilidad, duplicación y riesgos.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00784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5CB5C"/>
                </a:solidFill>
                <a:latin typeface="Aptos"/>
              </a:rPr>
              <a:t>No incluye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29968"/>
            <a:ext cx="4343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ABBECD"/>
                </a:solidFill>
                <a:latin typeface="Aptos"/>
              </a:rPr>
              <a:t>Aspectos que requieren otros ecosistemas o procesos.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487168"/>
            <a:ext cx="452628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3F7FB"/>
                </a:solidFill>
                <a:latin typeface="Aptos"/>
              </a:defRPr>
            </a:pPr>
            <a:r>
              <a:t>• Despliegue completo a producción.</a:t>
            </a:r>
          </a:p>
          <a:p>
            <a:pPr>
              <a:spcAft>
                <a:spcPts val="800"/>
              </a:spcAft>
              <a:defRPr sz="1220">
                <a:solidFill>
                  <a:srgbClr val="F3F7FB"/>
                </a:solidFill>
                <a:latin typeface="Aptos"/>
              </a:defRPr>
            </a:pPr>
            <a:r>
              <a:t>• Monitoreo y observabilidad en operación.</a:t>
            </a:r>
          </a:p>
          <a:p>
            <a:pPr>
              <a:spcAft>
                <a:spcPts val="800"/>
              </a:spcAft>
              <a:defRPr sz="1220">
                <a:solidFill>
                  <a:srgbClr val="F3F7FB"/>
                </a:solidFill>
                <a:latin typeface="Aptos"/>
              </a:defRPr>
            </a:pPr>
            <a:r>
              <a:t>• Validación directa con usuarios finales.</a:t>
            </a:r>
          </a:p>
          <a:p>
            <a:pPr>
              <a:spcAft>
                <a:spcPts val="800"/>
              </a:spcAft>
              <a:defRPr sz="1220">
                <a:solidFill>
                  <a:srgbClr val="F3F7FB"/>
                </a:solidFill>
                <a:latin typeface="Aptos"/>
              </a:defRPr>
            </a:pPr>
            <a:r>
              <a:t>• Seguridad avanzada o pentesting completo.</a:t>
            </a:r>
          </a:p>
          <a:p>
            <a:pPr>
              <a:spcAft>
                <a:spcPts val="800"/>
              </a:spcAft>
              <a:defRPr sz="1220">
                <a:solidFill>
                  <a:srgbClr val="F3F7FB"/>
                </a:solidFill>
                <a:latin typeface="Aptos"/>
              </a:defRPr>
            </a:pPr>
            <a:r>
              <a:t>• Gobierno completo de arquitectura empresarial.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559552"/>
            <a:ext cx="9829800" cy="658368"/>
          </a:xfrm>
          <a:prstGeom prst="roundRect">
            <a:avLst/>
          </a:prstGeom>
          <a:solidFill>
            <a:srgbClr val="052034"/>
          </a:solidFill>
          <a:ln w="15240">
            <a:solidFill>
              <a:srgbClr val="219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5733288"/>
            <a:ext cx="1143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219DF2"/>
                </a:solidFill>
                <a:latin typeface="Aptos"/>
              </a:rPr>
              <a:t>Propósito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733288"/>
            <a:ext cx="795527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3F7FB"/>
                </a:solidFill>
                <a:latin typeface="Aptos"/>
              </a:rPr>
              <a:t>Asegurar que el código sea probado, medible, consistente y mantenible antes del merge o entrega.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37376"/>
            <a:ext cx="594360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550" b="0">
                <a:solidFill>
                  <a:srgbClr val="ABBECD"/>
                </a:solidFill>
                <a:latin typeface="Aptos"/>
              </a:rPr>
              <a:t>PSWE-03 | Construcción y Mantenimiento de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46520"/>
            <a:ext cx="320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550">
                <a:solidFill>
                  <a:srgbClr val="ABBEC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Utilidad y métricas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del ecosistema se observa en indicadores concretos.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0" y="1298448"/>
            <a:ext cx="12191695" cy="9144"/>
          </a:xfrm>
          <a:prstGeom prst="rect">
            <a:avLst/>
          </a:prstGeom>
          <a:solidFill>
            <a:srgbClr val="1F547B">
              <a:alpha val="50000"/>
            </a:srgbClr>
          </a:solidFill>
          <a:ln w="12700">
            <a:solidFill>
              <a:srgbClr val="1F547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Cobertura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566160" y="16459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6EEF7"/>
                </a:solidFill>
              </a:rPr>
              <a:t>% de código ejecutado por pruebas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0" y="1645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9D4FF"/>
                </a:solidFill>
              </a:rPr>
              <a:t>coverage.py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Pruebas exitosas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566160" y="23957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6EEF7"/>
                </a:solidFill>
              </a:rPr>
              <a:t>% de tests que pasan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0" y="2395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9D4FF"/>
                </a:solidFill>
              </a:rPr>
              <a:t>pytest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3145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Problemas de estilo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566160" y="31455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6EEF7"/>
                </a:solidFill>
              </a:rPr>
              <a:t>Errores, imports, formato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0" y="3145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9D4FF"/>
                </a:solidFill>
              </a:rPr>
              <a:t>Ruff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Errores de tipo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566160" y="38953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6EEF7"/>
                </a:solidFill>
              </a:rPr>
              <a:t>Contratos rotos o datos incorrectos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0" y="3895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9D4FF"/>
                </a:solidFill>
              </a:rPr>
              <a:t>mypy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4645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Mantenibilidad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6160" y="46451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6EEF7"/>
                </a:solidFill>
              </a:rPr>
              <a:t>Bugs, smells, duplicación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0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9D4FF"/>
                </a:solidFill>
              </a:rPr>
              <a:t>SonarQube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51560" y="5650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</a:rPr>
              <a:t>Medir no es castigar: medir ayuda a aprender, mejorar y reducir defectos.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" y="648309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PSWE-03 | Construcción y Mantenimiento de Software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550">
                <a:solidFill>
                  <a:srgbClr val="ABBECD"/>
                </a:solidFill>
                <a:latin typeface="Aptos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Límites del ecosistema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herramientas ayudan, pero no reemplazan el criterio del equipo.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10652760" cy="4434840"/>
          </a:xfrm>
          <a:prstGeom prst="roundRect">
            <a:avLst>
              <a:gd name="adj" fmla="val 2474"/>
            </a:avLst>
          </a:prstGeom>
          <a:solidFill>
            <a:srgbClr val="0B243B">
              <a:alpha val="94000"/>
            </a:srgbClr>
          </a:solidFill>
          <a:ln w="12700">
            <a:solidFill>
              <a:srgbClr val="304E65">
                <a:alpha val="6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166"/>
                </a:solidFill>
              </a:rPr>
              <a:t>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874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 garantizan reglas correctas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258568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9C7D8"/>
                </a:solidFill>
              </a:rPr>
              <a:t>Una prueba puede validar una regla mal entendida.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3657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166"/>
                </a:solidFill>
              </a:rPr>
              <a:t>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3657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Cobertura alta no siempre es calidad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4041648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9C7D8"/>
                </a:solidFill>
              </a:rPr>
              <a:t>Se pueden probar líneas sin probar escenarios importantes.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166"/>
                </a:solidFill>
              </a:rPr>
              <a:t>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874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Requieren configuración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258568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9C7D8"/>
                </a:solidFill>
              </a:rPr>
              <a:t>Sin estándares, las herramientas pueden volverse ruido.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3657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166"/>
                </a:solidFill>
              </a:rPr>
              <a:t>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3657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 sustituyen revisión humana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0" y="4041648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9C7D8"/>
                </a:solidFill>
              </a:rPr>
              <a:t>La arquitectura, el negocio y el contexto necesitan criterio profesional.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59436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D68B"/>
                </a:solidFill>
              </a:rPr>
              <a:t>Conclusión: automatiza la calidad técnica, pero debe estar conectado a requerimientos y criterios de aceptación.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02920" y="648309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PSWE-03 | Construcción y Mantenimiento de Software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38428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550">
                <a:solidFill>
                  <a:srgbClr val="ABBECD"/>
                </a:solidFill>
                <a:latin typeface="Aptos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Aplicación: práctica de matrícula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usaría este ecosistema en un caso pequeño de Python.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892040" cy="4434840"/>
          </a:xfrm>
          <a:prstGeom prst="roundRect">
            <a:avLst>
              <a:gd name="adj" fmla="val 2474"/>
            </a:avLst>
          </a:prstGeom>
          <a:solidFill>
            <a:srgbClr val="0B243B">
              <a:alpha val="94000"/>
            </a:srgbClr>
          </a:solidFill>
          <a:ln w="12700">
            <a:solidFill>
              <a:srgbClr val="69D4FF">
                <a:alpha val="6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9D4FF"/>
                </a:solidFill>
              </a:rPr>
              <a:t>Reglas a validar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023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Nuevo: 5% de descuento.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4023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Regular: 3% de descuento.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154680"/>
            <a:ext cx="4023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Beca: 20% de descuento.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566160"/>
            <a:ext cx="4023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Virtual/presencial: ajuste fijo.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977640"/>
            <a:ext cx="4023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Diciembre y total mínimo 0.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4892040" cy="4434840"/>
          </a:xfrm>
          <a:prstGeom prst="roundRect">
            <a:avLst>
              <a:gd name="adj" fmla="val 2474"/>
            </a:avLst>
          </a:prstGeom>
          <a:solidFill>
            <a:srgbClr val="0A2C2B">
              <a:alpha val="94000"/>
            </a:srgbClr>
          </a:solidFill>
          <a:ln w="12700">
            <a:solidFill>
              <a:srgbClr val="20D68B">
                <a:alpha val="6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675120" y="1719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0D68B"/>
                </a:solidFill>
              </a:rPr>
              <a:t>Controles de calidad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720840" y="2194560"/>
            <a:ext cx="4069080" cy="640080"/>
          </a:xfrm>
          <a:prstGeom prst="roundRect">
            <a:avLst>
              <a:gd name="adj" fmla="val 17143"/>
            </a:avLst>
          </a:prstGeom>
          <a:solidFill>
            <a:srgbClr val="0D2137">
              <a:alpha val="94000"/>
            </a:srgbClr>
          </a:solidFill>
          <a:ln w="12700">
            <a:solidFill>
              <a:srgbClr val="20D68B">
                <a:alpha val="8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30568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D68B"/>
                </a:solidFill>
              </a:rPr>
              <a:t>🧪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276856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pytest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78040" y="2505456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9C7D8"/>
                </a:solidFill>
              </a:rPr>
              <a:t>casos normales y límite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720840" y="2926080"/>
            <a:ext cx="4069080" cy="640080"/>
          </a:xfrm>
          <a:prstGeom prst="roundRect">
            <a:avLst>
              <a:gd name="adj" fmla="val 17143"/>
            </a:avLst>
          </a:prstGeom>
          <a:solidFill>
            <a:srgbClr val="0D2137">
              <a:alpha val="94000"/>
            </a:srgbClr>
          </a:solidFill>
          <a:ln w="12700">
            <a:solidFill>
              <a:srgbClr val="69D4FF">
                <a:alpha val="8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30568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D4FF"/>
                </a:solidFill>
              </a:rPr>
              <a:t>📊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3008376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coverage.py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78040" y="3236976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9C7D8"/>
                </a:solidFill>
              </a:rPr>
              <a:t>ver reglas sin prueba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720840" y="3657600"/>
            <a:ext cx="4069080" cy="640080"/>
          </a:xfrm>
          <a:prstGeom prst="roundRect">
            <a:avLst>
              <a:gd name="adj" fmla="val 17143"/>
            </a:avLst>
          </a:prstGeom>
          <a:solidFill>
            <a:srgbClr val="0D2137">
              <a:alpha val="94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30568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166"/>
                </a:solidFill>
              </a:rPr>
              <a:t>⚙️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739896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Ruff + mypy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78040" y="3968496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9C7D8"/>
                </a:solidFill>
              </a:rPr>
              <a:t>limpieza y contratos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720840" y="4389120"/>
            <a:ext cx="4069080" cy="640080"/>
          </a:xfrm>
          <a:prstGeom prst="roundRect">
            <a:avLst>
              <a:gd name="adj" fmla="val 17143"/>
            </a:avLst>
          </a:prstGeom>
          <a:solidFill>
            <a:srgbClr val="0D2137">
              <a:alpha val="94000"/>
            </a:srgbClr>
          </a:solidFill>
          <a:ln w="12700">
            <a:solidFill>
              <a:srgbClr val="FF7A59">
                <a:alpha val="8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830568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7A59"/>
                </a:solidFill>
              </a:rPr>
              <a:t>🛡️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78040" y="4471416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SonarQube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178040" y="4700016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9C7D8"/>
                </a:solidFill>
              </a:rPr>
              <a:t>mantenibilidad global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502920" y="648309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PSWE-03 | Construcción y Mantenimiento de Software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8428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550">
                <a:solidFill>
                  <a:srgbClr val="ABBECD"/>
                </a:solidFill>
                <a:latin typeface="Aptos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del ecosistema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herramienta cubre una parte diferente del control de calidad.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423160" y="3063240"/>
            <a:ext cx="594360" cy="0"/>
          </a:xfrm>
          <a:prstGeom prst="line">
            <a:avLst/>
          </a:prstGeom>
          <a:noFill/>
          <a:ln w="12700">
            <a:solidFill>
              <a:srgbClr val="1E7CB4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26280" y="3063240"/>
            <a:ext cx="594360" cy="0"/>
          </a:xfrm>
          <a:prstGeom prst="line">
            <a:avLst/>
          </a:prstGeom>
          <a:noFill/>
          <a:ln w="12700">
            <a:solidFill>
              <a:srgbClr val="1E7CB4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629400" y="3063240"/>
            <a:ext cx="594360" cy="0"/>
          </a:xfrm>
          <a:prstGeom prst="line">
            <a:avLst/>
          </a:prstGeom>
          <a:noFill/>
          <a:ln w="12700">
            <a:solidFill>
              <a:srgbClr val="1E7CB4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732520" y="3063240"/>
            <a:ext cx="594360" cy="0"/>
          </a:xfrm>
          <a:prstGeom prst="line">
            <a:avLst/>
          </a:prstGeom>
          <a:noFill/>
          <a:ln w="12700">
            <a:solidFill>
              <a:srgbClr val="1E7CB4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1600200" cy="1508760"/>
          </a:xfrm>
          <a:prstGeom prst="roundRect">
            <a:avLst>
              <a:gd name="adj" fmla="val 7273"/>
            </a:avLst>
          </a:prstGeom>
          <a:solidFill>
            <a:srgbClr val="0B2238">
              <a:alpha val="94000"/>
            </a:srgbClr>
          </a:solidFill>
          <a:ln w="12700">
            <a:solidFill>
              <a:srgbClr val="20D68B"/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16736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29443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pytest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3246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7D8"/>
                </a:solidFill>
              </a:rPr>
              <a:t>Pruebas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2331720"/>
            <a:ext cx="1600200" cy="1508760"/>
          </a:xfrm>
          <a:prstGeom prst="roundRect">
            <a:avLst>
              <a:gd name="adj" fmla="val 7273"/>
            </a:avLst>
          </a:prstGeom>
          <a:solidFill>
            <a:srgbClr val="0B2238">
              <a:alpha val="94000"/>
            </a:srgbClr>
          </a:solidFill>
          <a:ln w="12700">
            <a:solidFill>
              <a:srgbClr val="69D4FF"/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419856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99232" y="29443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coverage.py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99232" y="3246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7D8"/>
                </a:solidFill>
              </a:rPr>
              <a:t>Cobertura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331720"/>
            <a:ext cx="1600200" cy="1508760"/>
          </a:xfrm>
          <a:prstGeom prst="roundRect">
            <a:avLst>
              <a:gd name="adj" fmla="val 7273"/>
            </a:avLst>
          </a:prstGeom>
          <a:solidFill>
            <a:srgbClr val="0B2238">
              <a:alpha val="94000"/>
            </a:srgbClr>
          </a:solidFill>
          <a:ln w="12700">
            <a:solidFill>
              <a:srgbClr val="FFD166"/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522976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02352" y="29443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Ruff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102352" y="3246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7D8"/>
                </a:solidFill>
              </a:rPr>
              <a:t>Estilo + lint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2331720"/>
            <a:ext cx="1600200" cy="1508760"/>
          </a:xfrm>
          <a:prstGeom prst="roundRect">
            <a:avLst>
              <a:gd name="adj" fmla="val 7273"/>
            </a:avLst>
          </a:prstGeom>
          <a:solidFill>
            <a:srgbClr val="0B2238">
              <a:alpha val="94000"/>
            </a:srgbClr>
          </a:solidFill>
          <a:ln w="12700">
            <a:solidFill>
              <a:srgbClr val="A890FF"/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626096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🔎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05472" y="29443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mypy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05472" y="3246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7D8"/>
                </a:solidFill>
              </a:rPr>
              <a:t>Tipos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0" y="2331720"/>
            <a:ext cx="1600200" cy="1508760"/>
          </a:xfrm>
          <a:prstGeom prst="roundRect">
            <a:avLst>
              <a:gd name="adj" fmla="val 7273"/>
            </a:avLst>
          </a:prstGeom>
          <a:solidFill>
            <a:srgbClr val="0B2238">
              <a:alpha val="94000"/>
            </a:srgbClr>
          </a:solidFill>
          <a:ln w="12700">
            <a:solidFill>
              <a:srgbClr val="FF7A59"/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729216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08592" y="29443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SonarQube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308592" y="3246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7D8"/>
                </a:solidFill>
              </a:rPr>
              <a:t>Calidad global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Resultado esperado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5074920"/>
            <a:ext cx="98755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6EEF7"/>
                </a:solidFill>
              </a:rPr>
              <a:t>Un flujo de construcción donde los cambios se validan con pruebas, métricas, reglas de estilo, tipos y análisis de calidad antes de aceptarse.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02920" y="648309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PSWE-03 | Construcción y Mantenimiento de Software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38428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550">
                <a:solidFill>
                  <a:srgbClr val="ABBECD"/>
                </a:solidFill>
                <a:latin typeface="Aptos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recomendado de uso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proceso simple para construir, revisar y aceptar cambios.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1560" y="2880360"/>
            <a:ext cx="9966960" cy="0"/>
          </a:xfrm>
          <a:prstGeom prst="line">
            <a:avLst/>
          </a:prstGeom>
          <a:noFill/>
          <a:ln w="12700">
            <a:solidFill>
              <a:srgbClr val="217DB0">
                <a:alpha val="8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85800" y="2487168"/>
            <a:ext cx="777240" cy="777240"/>
          </a:xfrm>
          <a:prstGeom prst="ellipse">
            <a:avLst/>
          </a:prstGeom>
          <a:solidFill>
            <a:srgbClr val="18A0F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41248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520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Implementar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560320" y="2487168"/>
            <a:ext cx="777240" cy="777240"/>
          </a:xfrm>
          <a:prstGeom prst="ellipse">
            <a:avLst/>
          </a:prstGeom>
          <a:solidFill>
            <a:srgbClr val="18A0F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715768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3520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Probar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434840" y="2487168"/>
            <a:ext cx="777240" cy="777240"/>
          </a:xfrm>
          <a:prstGeom prst="ellipse">
            <a:avLst/>
          </a:prstGeom>
          <a:solidFill>
            <a:srgbClr val="18A0F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90288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51960" y="3520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Medir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309360" y="2487168"/>
            <a:ext cx="777240" cy="777240"/>
          </a:xfrm>
          <a:prstGeom prst="ellipse">
            <a:avLst/>
          </a:prstGeom>
          <a:solidFill>
            <a:srgbClr val="18A0F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64808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3520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Revisar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183880" y="2487168"/>
            <a:ext cx="777240" cy="777240"/>
          </a:xfrm>
          <a:prstGeom prst="ellipse">
            <a:avLst/>
          </a:prstGeom>
          <a:solidFill>
            <a:srgbClr val="18A0F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339328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01000" y="3520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Analizar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058400" y="2487168"/>
            <a:ext cx="777240" cy="777240"/>
          </a:xfrm>
          <a:prstGeom prst="ellipse">
            <a:avLst/>
          </a:prstGeom>
          <a:solidFill>
            <a:srgbClr val="20D68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213848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75520" y="3520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Integrar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417320" y="5230368"/>
            <a:ext cx="9235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</a:rPr>
              <a:t>Este flujo se puede ejecutar localmente o dentro de CI/CD.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648309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PSWE-03 | Construcción y Mantenimiento de Software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8428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550">
                <a:solidFill>
                  <a:srgbClr val="ABBECD"/>
                </a:solidFill>
                <a:latin typeface="Aptos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97880" y="1536192"/>
            <a:ext cx="5715000" cy="3566160"/>
          </a:xfrm>
          <a:prstGeom prst="roundRect">
            <a:avLst>
              <a:gd name="adj" fmla="val 3077"/>
            </a:avLst>
          </a:prstGeom>
          <a:solidFill>
            <a:srgbClr val="0B2037">
              <a:alpha val="94000"/>
            </a:srgbClr>
          </a:solidFill>
          <a:ln w="12700">
            <a:solidFill>
              <a:srgbClr val="69D4FF">
                <a:alpha val="6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/mnt/data/a_detailed_clean_tech_illustration_photorealistic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755648"/>
            <a:ext cx="5394960" cy="3035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pytest + coverage.py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8686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se prueba; luego se mide qué tan bien se probó.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1520" y="1600200"/>
            <a:ext cx="4480560" cy="1508760"/>
          </a:xfrm>
          <a:prstGeom prst="roundRect">
            <a:avLst>
              <a:gd name="adj" fmla="val 7273"/>
            </a:avLst>
          </a:prstGeom>
          <a:solidFill>
            <a:srgbClr val="092B31">
              <a:alpha val="94000"/>
            </a:srgbClr>
          </a:solidFill>
          <a:ln w="12700">
            <a:solidFill>
              <a:srgbClr val="20D68B">
                <a:alpha val="6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D68B"/>
                </a:solidFill>
              </a:rPr>
              <a:t>pytest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226771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Permite escribir pruebas pequeñas, legibles y automatizadas para validar reglas de negocio.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3657600"/>
            <a:ext cx="4480560" cy="1508760"/>
          </a:xfrm>
          <a:prstGeom prst="roundRect">
            <a:avLst>
              <a:gd name="adj" fmla="val 7273"/>
            </a:avLst>
          </a:prstGeom>
          <a:solidFill>
            <a:srgbClr val="0B273C">
              <a:alpha val="94000"/>
            </a:srgbClr>
          </a:solidFill>
          <a:ln w="12700">
            <a:solidFill>
              <a:srgbClr val="69D4FF">
                <a:alpha val="6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0058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9D4FF"/>
                </a:solidFill>
              </a:rPr>
              <a:t>coverage.py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432511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Mide qué partes del código fueron ejecutadas por las pruebas y cuáles quedaron sin cobertura.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" y="6236208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71879D"/>
                </a:solidFill>
              </a:rPr>
              <a:t>Fuentes: pytest.org; coverage.readthedocs.io</a:t>
            </a:r>
            <a:endParaRPr lang="en-US" sz="640" dirty="0"/>
          </a:p>
        </p:txBody>
      </p:sp>
      <p:sp>
        <p:nvSpPr>
          <p:cNvPr id="13" name="Text 10"/>
          <p:cNvSpPr/>
          <p:nvPr/>
        </p:nvSpPr>
        <p:spPr>
          <a:xfrm>
            <a:off x="502920" y="648309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PSWE-03 | Construcción y Mantenimiento de Software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38428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550">
                <a:solidFill>
                  <a:srgbClr val="ABBECD"/>
                </a:solidFill>
                <a:latin typeface="Aptos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Ruff + mypy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Limpieza automática y prevención de errores antes de ejecutar.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4864" cy="4251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7280" y="1417320"/>
            <a:ext cx="4572000" cy="4389120"/>
          </a:xfrm>
          <a:prstGeom prst="roundRect">
            <a:avLst>
              <a:gd name="adj" fmla="val 2500"/>
            </a:avLst>
          </a:prstGeom>
          <a:solidFill>
            <a:srgbClr val="2F2409">
              <a:alpha val="94000"/>
            </a:srgbClr>
          </a:solidFill>
          <a:ln w="12700">
            <a:solidFill>
              <a:srgbClr val="FFD166">
                <a:alpha val="9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</a:rPr>
              <a:t>Ruff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2402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</a:rPr>
              <a:t>Detecta problemas de estilo, imports no usados, reglas incumplidas y puede formatear el código.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7320" y="43159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i="1" dirty="0">
                <a:solidFill>
                  <a:srgbClr val="E6EEF7"/>
                </a:solidFill>
              </a:rPr>
              <a:t>En práctica: evita código difícil de leer o inconsistente.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92240" y="1417320"/>
            <a:ext cx="4572000" cy="4389120"/>
          </a:xfrm>
          <a:prstGeom prst="roundRect">
            <a:avLst>
              <a:gd name="adj" fmla="val 2500"/>
            </a:avLst>
          </a:prstGeom>
          <a:solidFill>
            <a:srgbClr val="1B1235">
              <a:alpha val="94000"/>
            </a:srgbClr>
          </a:solidFill>
          <a:ln w="12700">
            <a:solidFill>
              <a:srgbClr val="A890FF">
                <a:alpha val="9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1228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A2FF"/>
                </a:solidFill>
              </a:rPr>
              <a:t>mypy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12280" y="22402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</a:rPr>
              <a:t>Valida tipos estáticos usando anotaciones. Ayuda a detectar errores de uso antes de correr el programa.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812280" y="43159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i="1" dirty="0">
                <a:solidFill>
                  <a:srgbClr val="E6EEF7"/>
                </a:solidFill>
              </a:rPr>
              <a:t>En práctica: protege contratos entre funciones, clases y módulos.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236208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71879D"/>
                </a:solidFill>
              </a:rPr>
              <a:t>Fuentes: docs.astral.sh/ruff; mypy-lang.org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502920" y="648309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PSWE-03 | Construcción y Mantenimiento de Software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38428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550">
                <a:solidFill>
                  <a:srgbClr val="ABBECD"/>
                </a:solidFill>
                <a:latin typeface="Aptos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0760" y="141732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071C2D">
              <a:alpha val="94000"/>
            </a:srgbClr>
          </a:solidFill>
          <a:ln w="12700">
            <a:solidFill>
              <a:srgbClr val="FF7A59">
                <a:alpha val="5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/mnt/data/a_wide_cinematic_high_tech_digital_illustration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64208"/>
            <a:ext cx="4965192" cy="2788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SonarQube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8686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vista ejecutiva de calidad, mantenibilidad y seguridad.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1520" y="1508760"/>
            <a:ext cx="4892040" cy="4343400"/>
          </a:xfrm>
          <a:prstGeom prst="roundRect">
            <a:avLst>
              <a:gd name="adj" fmla="val 2526"/>
            </a:avLst>
          </a:prstGeom>
          <a:solidFill>
            <a:srgbClr val="071C2D">
              <a:alpha val="94000"/>
            </a:srgbClr>
          </a:solidFill>
          <a:ln w="12700">
            <a:solidFill>
              <a:srgbClr val="FF7A59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5156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Analiza el código para encontrar: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51560" y="2514600"/>
            <a:ext cx="3886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Bugs y vulnerabilidades.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1560" y="2999232"/>
            <a:ext cx="3886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smells y duplicación.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3483864"/>
            <a:ext cx="3886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Problemas de mantenibilidad.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51560" y="3968496"/>
            <a:ext cx="3886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9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 antes del merge o release.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51560" y="48006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6EEF7"/>
                </a:solidFill>
              </a:rPr>
              <a:t>Valor: transforma hallazgos técnicos en indicadores visibles para el equipo.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236208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71879D"/>
                </a:solidFill>
              </a:rPr>
              <a:t>Fuente: SonarQube Server Documentation / SonarSource</a:t>
            </a:r>
            <a:endParaRPr lang="en-US" sz="640" dirty="0"/>
          </a:p>
        </p:txBody>
      </p:sp>
      <p:sp>
        <p:nvSpPr>
          <p:cNvPr id="14" name="Text 11"/>
          <p:cNvSpPr/>
          <p:nvPr/>
        </p:nvSpPr>
        <p:spPr>
          <a:xfrm>
            <a:off x="502920" y="648309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PSWE-03 | Construcción y Mantenimiento de Software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38428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550">
                <a:solidFill>
                  <a:srgbClr val="ABBECD"/>
                </a:solidFill>
                <a:latin typeface="Aptos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1005840"/>
            <a:ext cx="4754880" cy="3520440"/>
          </a:xfrm>
          <a:prstGeom prst="roundRect">
            <a:avLst>
              <a:gd name="adj" fmla="val 3117"/>
            </a:avLst>
          </a:prstGeom>
          <a:solidFill>
            <a:srgbClr val="0B2037">
              <a:alpha val="94000"/>
            </a:srgbClr>
          </a:solidFill>
          <a:ln w="12700">
            <a:solidFill>
              <a:srgbClr val="18A0FB">
                <a:alpha val="6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/mnt/data/a_modern_corporate_tech_office_meeting_scene_in_a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34440"/>
            <a:ext cx="4407408" cy="24780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95160" y="3886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6EEF7"/>
                </a:solidFill>
              </a:rPr>
              <a:t>Código más confiable antes de integrar cambios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777240" y="822960"/>
            <a:ext cx="5760720" cy="5212080"/>
          </a:xfrm>
          <a:prstGeom prst="roundRect">
            <a:avLst>
              <a:gd name="adj" fmla="val 2105"/>
            </a:avLst>
          </a:prstGeom>
          <a:solidFill>
            <a:srgbClr val="061B2B">
              <a:alpha val="94000"/>
            </a:srgbClr>
          </a:solidFill>
          <a:ln w="12700">
            <a:solidFill>
              <a:srgbClr val="20D68B">
                <a:alpha val="9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1430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D68B"/>
                </a:solidFill>
              </a:rPr>
              <a:t>Mensaje final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178308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El ecosistema de calidad de código convierte la construcción en un proceso más controlado, medible y mantenible.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143000" y="37947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E6EEF7"/>
                </a:solidFill>
              </a:rPr>
              <a:t>No busca complicar el desarrollo: busca reducir defectos, mejorar claridad y aumentar confianza antes de integrar cambios.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143000" y="4983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69D4FF"/>
                </a:solidFill>
              </a:rPr>
              <a:t>pytest · coverage.py · Ruff · mypy · SonarQube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2920" y="648309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PSWE-03 | Construcción y Mantenimiento de Software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38428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550">
                <a:solidFill>
                  <a:srgbClr val="ABBECD"/>
                </a:solidFill>
                <a:latin typeface="Aptos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Referencias y descargas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oficiales consultadas para la investigación.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0120" y="1600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pytest</a:t>
            </a:r>
            <a:endParaRPr lang="en-US" sz="1500" dirty="0"/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2743200" y="16002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u="sng" dirty="0">
                <a:solidFill>
                  <a:srgbClr val="69D4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https://pytest.org/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3134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coverage.py</a:t>
            </a:r>
            <a:endParaRPr lang="en-US" sz="1500" dirty="0"/>
          </a:p>
        </p:txBody>
      </p:sp>
      <p:sp>
        <p:nvSpPr>
          <p:cNvPr id="7" name="Text 5">
            <a:hlinkClick r:id="rId4"/>
          </p:cNvPr>
          <p:cNvSpPr/>
          <p:nvPr/>
        </p:nvSpPr>
        <p:spPr>
          <a:xfrm>
            <a:off x="2743200" y="23134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u="sng" dirty="0">
                <a:solidFill>
                  <a:srgbClr val="69D4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https://coverage.readthedocs.io/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30266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Ruff</a:t>
            </a:r>
            <a:endParaRPr lang="en-US" sz="1500" dirty="0"/>
          </a:p>
        </p:txBody>
      </p:sp>
      <p:sp>
        <p:nvSpPr>
          <p:cNvPr id="9" name="Text 7">
            <a:hlinkClick r:id="rId5"/>
          </p:cNvPr>
          <p:cNvSpPr/>
          <p:nvPr/>
        </p:nvSpPr>
        <p:spPr>
          <a:xfrm>
            <a:off x="2743200" y="30266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u="sng" dirty="0">
                <a:solidFill>
                  <a:srgbClr val="69D4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https://docs.astral.sh/ruff/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7398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mypy</a:t>
            </a:r>
            <a:endParaRPr lang="en-US" sz="1500" dirty="0"/>
          </a:p>
        </p:txBody>
      </p:sp>
      <p:sp>
        <p:nvSpPr>
          <p:cNvPr id="11" name="Text 9">
            <a:hlinkClick r:id="rId6"/>
          </p:cNvPr>
          <p:cNvSpPr/>
          <p:nvPr/>
        </p:nvSpPr>
        <p:spPr>
          <a:xfrm>
            <a:off x="2743200" y="3739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u="sng" dirty="0">
                <a:solidFill>
                  <a:srgbClr val="69D4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https://mypy-lang.org/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4453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SonarQube</a:t>
            </a:r>
            <a:endParaRPr lang="en-US" sz="1500" dirty="0"/>
          </a:p>
        </p:txBody>
      </p:sp>
      <p:sp>
        <p:nvSpPr>
          <p:cNvPr id="13" name="Text 11">
            <a:hlinkClick r:id="rId7"/>
          </p:cNvPr>
          <p:cNvSpPr/>
          <p:nvPr/>
        </p:nvSpPr>
        <p:spPr>
          <a:xfrm>
            <a:off x="2743200" y="44531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u="sng" dirty="0">
                <a:solidFill>
                  <a:srgbClr val="69D4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https://docs.sonarsource.com/sonarqube-server/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56875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C7D8"/>
                </a:solidFill>
              </a:rPr>
              <a:t>Material base: Práctica 2 y Clase #2 del curso PSWE-03.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648309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PSWE-03 | Construcción y Mantenimiento de Software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38428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550">
                <a:solidFill>
                  <a:srgbClr val="ABBECD"/>
                </a:solidFill>
                <a:latin typeface="Aptos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1559</Words>
  <Application>Microsoft Office PowerPoint</Application>
  <PresentationFormat>Widescreen</PresentationFormat>
  <Paragraphs>215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CENFOTEC / PSWE-03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Ecosistema de calidad de código</dc:title>
  <dc:subject>PSWE-03 Practica 2 - Ecosistema de calidad de codigo</dc:subject>
  <dc:creator>OpenAI</dc:creator>
  <cp:lastModifiedBy>Tomás Azofeifa</cp:lastModifiedBy>
  <cp:revision>1</cp:revision>
  <dcterms:created xsi:type="dcterms:W3CDTF">2026-05-23T01:30:23Z</dcterms:created>
  <dcterms:modified xsi:type="dcterms:W3CDTF">2026-05-23T01:43:35Z</dcterms:modified>
</cp:coreProperties>
</file>